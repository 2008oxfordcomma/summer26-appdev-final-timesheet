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40" r:id="rId5"/>
    <p:sldId id="343" r:id="rId6"/>
    <p:sldId id="357" r:id="rId7"/>
    <p:sldId id="354" r:id="rId8"/>
    <p:sldId id="356" r:id="rId9"/>
    <p:sldId id="35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89526-C390-FC31-1DBF-18DD3880FE81}" v="137" dt="2026-08-05T11:59:41.427"/>
    <p1510:client id="{A7C30D52-B7F7-5F24-6971-763C23E26D32}" v="1766" dt="2026-08-05T17:31:44.452"/>
  </p1510:revLst>
</p1510:revInfo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1" autoAdjust="0"/>
    <p:restoredTop sz="94660" autoAdjust="0"/>
  </p:normalViewPr>
  <p:slideViewPr>
    <p:cSldViewPr snapToGrid="0">
      <p:cViewPr>
        <p:scale>
          <a:sx n="100" d="100"/>
          <a:sy n="100" d="100"/>
        </p:scale>
        <p:origin x="-216" y="-1152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4F0F2-1FB9-C718-BE07-93C61CF32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9CB58-1ABB-911F-9CA9-B5577CF51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12227-5904-E23D-6BB7-703232F01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2266D-4F83-D1DF-8420-06CE31B2B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830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71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8/5/2026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 anchor="b">
            <a:normAutofit/>
          </a:bodyPr>
          <a:lstStyle/>
          <a:p>
            <a:r>
              <a:rPr lang="en-US"/>
              <a:t>Timesheet App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40CBCCB-2035-EFD4-9421-1259293FD9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r>
              <a:rPr lang="en-US" dirty="0"/>
              <a:t>Ethan </a:t>
            </a:r>
            <a:r>
              <a:rPr lang="en-US"/>
              <a:t>Larson </a:t>
            </a:r>
            <a:r>
              <a:rPr lang="en-US" dirty="0"/>
              <a:t>&amp; Dre Harm</a:t>
            </a: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/>
              <a:t>Now Screen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D06E9B-B7ED-88AD-DDCF-1EDBA4692388}"/>
              </a:ext>
            </a:extLst>
          </p:cNvPr>
          <p:cNvSpPr txBox="1"/>
          <p:nvPr/>
        </p:nvSpPr>
        <p:spPr>
          <a:xfrm>
            <a:off x="9291422" y="1624176"/>
            <a:ext cx="359186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chemeClr val="accent1">
                    <a:lumMod val="49000"/>
                  </a:schemeClr>
                </a:solidFill>
              </a:rPr>
              <a:t>Composables</a:t>
            </a:r>
            <a:r>
              <a:rPr lang="en-US" b="1" dirty="0">
                <a:solidFill>
                  <a:schemeClr val="accent1">
                    <a:lumMod val="49000"/>
                  </a:schemeClr>
                </a:solidFill>
              </a:rPr>
              <a:t> Used: </a:t>
            </a:r>
          </a:p>
          <a:p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  <a:p>
            <a:pPr>
              <a:spcBef>
                <a:spcPct val="0"/>
              </a:spcBef>
            </a:pPr>
            <a:r>
              <a:rPr lang="en-US" b="1" dirty="0">
                <a:solidFill>
                  <a:schemeClr val="accent1">
                    <a:lumMod val="49000"/>
                  </a:schemeClr>
                </a:solidFill>
              </a:rPr>
              <a:t>- </a:t>
            </a:r>
            <a:r>
              <a:rPr lang="en-US" b="1" dirty="0" err="1">
                <a:solidFill>
                  <a:schemeClr val="accent1">
                    <a:lumMod val="49000"/>
                  </a:schemeClr>
                </a:solidFill>
              </a:rPr>
              <a:t>DisplayTextClock</a:t>
            </a:r>
            <a:r>
              <a:rPr lang="en-US" b="1" dirty="0">
                <a:solidFill>
                  <a:schemeClr val="accent1">
                    <a:lumMod val="49000"/>
                  </a:schemeClr>
                </a:solidFill>
              </a:rPr>
              <a:t>()</a:t>
            </a:r>
          </a:p>
          <a:p>
            <a:pPr>
              <a:spcBef>
                <a:spcPct val="0"/>
              </a:spcBef>
            </a:pPr>
            <a:r>
              <a:rPr lang="en-US" b="1" dirty="0">
                <a:solidFill>
                  <a:schemeClr val="accent1">
                    <a:lumMod val="49000"/>
                  </a:schemeClr>
                </a:solidFill>
              </a:rPr>
              <a:t>- </a:t>
            </a:r>
            <a:r>
              <a:rPr lang="en-US" b="1" dirty="0" err="1">
                <a:solidFill>
                  <a:schemeClr val="accent1">
                    <a:lumMod val="49000"/>
                  </a:schemeClr>
                </a:solidFill>
              </a:rPr>
              <a:t>ClockInStatus</a:t>
            </a:r>
            <a:r>
              <a:rPr lang="en-US" b="1" dirty="0">
                <a:solidFill>
                  <a:schemeClr val="accent1">
                    <a:lumMod val="49000"/>
                  </a:schemeClr>
                </a:solidFill>
              </a:rPr>
              <a:t>()</a:t>
            </a: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accent1">
                    <a:lumMod val="49000"/>
                  </a:schemeClr>
                </a:solidFill>
              </a:rPr>
              <a:t>- Column</a:t>
            </a: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accent1">
                    <a:lumMod val="49000"/>
                  </a:schemeClr>
                </a:solidFill>
              </a:rPr>
              <a:t>- Row</a:t>
            </a:r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49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accent1">
                    <a:lumMod val="49000"/>
                  </a:schemeClr>
                </a:solidFill>
              </a:rPr>
              <a:t>AddressSearch</a:t>
            </a:r>
            <a:r>
              <a:rPr lang="en-US" b="1" dirty="0">
                <a:solidFill>
                  <a:schemeClr val="accent1">
                    <a:lumMod val="49000"/>
                  </a:schemeClr>
                </a:solidFill>
              </a:rPr>
              <a:t>()</a:t>
            </a:r>
          </a:p>
          <a:p>
            <a:pPr marL="285750" indent="-285750">
              <a:buFont typeface="Calibri"/>
              <a:buChar char="-"/>
            </a:pPr>
            <a:r>
              <a:rPr lang="en-US" b="1">
                <a:solidFill>
                  <a:schemeClr val="accent1">
                    <a:lumMod val="49000"/>
                  </a:schemeClr>
                </a:solidFill>
              </a:rPr>
              <a:t>Card</a:t>
            </a:r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 b="1">
                <a:solidFill>
                  <a:schemeClr val="accent1">
                    <a:lumMod val="49000"/>
                  </a:schemeClr>
                </a:solidFill>
              </a:rPr>
              <a:t>Text</a:t>
            </a:r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 b="1">
                <a:solidFill>
                  <a:schemeClr val="accent1">
                    <a:lumMod val="49000"/>
                  </a:schemeClr>
                </a:solidFill>
              </a:rPr>
              <a:t>Lazy Column</a:t>
            </a:r>
            <a:br>
              <a:rPr lang="en-US" b="1" dirty="0">
                <a:solidFill>
                  <a:schemeClr val="accent1">
                    <a:lumMod val="49000"/>
                  </a:schemeClr>
                </a:solidFill>
              </a:rPr>
            </a:br>
            <a:br>
              <a:rPr lang="en-US" b="1" dirty="0">
                <a:solidFill>
                  <a:schemeClr val="accent1">
                    <a:lumMod val="49000"/>
                  </a:schemeClr>
                </a:solidFill>
              </a:rPr>
            </a:br>
            <a:br>
              <a:rPr lang="en-US" b="1" dirty="0">
                <a:solidFill>
                  <a:schemeClr val="accent1">
                    <a:lumMod val="49000"/>
                  </a:schemeClr>
                </a:solidFill>
              </a:rPr>
            </a:br>
            <a:endParaRPr lang="en-US" b="1">
              <a:solidFill>
                <a:schemeClr val="accent1">
                  <a:lumMod val="49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35500-4804-00AD-F38F-3A30A4428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690" y="968963"/>
            <a:ext cx="2211212" cy="49012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1720E1-3AB8-0F70-EFEE-67E5FF37B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5795" y="965916"/>
            <a:ext cx="2206045" cy="49047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91650A-F047-9D47-A2DB-4DFDB26162F7}"/>
              </a:ext>
            </a:extLst>
          </p:cNvPr>
          <p:cNvSpPr txBox="1"/>
          <p:nvPr/>
        </p:nvSpPr>
        <p:spPr>
          <a:xfrm>
            <a:off x="4732673" y="564758"/>
            <a:ext cx="45457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1">
                    <a:lumMod val="49000"/>
                  </a:schemeClr>
                </a:solidFill>
              </a:rPr>
              <a:t> Current Location        Address </a:t>
            </a:r>
            <a:r>
              <a:rPr lang="en-US" dirty="0">
                <a:solidFill>
                  <a:schemeClr val="accent1">
                    <a:lumMod val="49000"/>
                  </a:schemeClr>
                </a:solidFill>
              </a:rPr>
              <a:t>Lookup</a:t>
            </a:r>
          </a:p>
        </p:txBody>
      </p:sp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5004E-6826-0CF7-FCB6-4460DC9EC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F4D3C-7BFD-A918-2EC4-9706B61A4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/>
              <a:t>History Screen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856492-AFE6-20B0-E5A0-392EF0BBDF8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5493059" y="924340"/>
            <a:ext cx="2254195" cy="5009322"/>
          </a:xfrm>
          <a:prstGeom prst="rect">
            <a:avLst/>
          </a:prstGeom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6A4D05-5E7C-7F07-32A1-A7DD22EA80A9}"/>
              </a:ext>
            </a:extLst>
          </p:cNvPr>
          <p:cNvSpPr txBox="1"/>
          <p:nvPr/>
        </p:nvSpPr>
        <p:spPr>
          <a:xfrm>
            <a:off x="8908103" y="1962179"/>
            <a:ext cx="3591862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chemeClr val="accent1">
                    <a:lumMod val="49000"/>
                  </a:schemeClr>
                </a:solidFill>
              </a:rPr>
              <a:t>Composables</a:t>
            </a:r>
            <a:r>
              <a:rPr lang="en-US" b="1" dirty="0">
                <a:solidFill>
                  <a:schemeClr val="accent1">
                    <a:lumMod val="49000"/>
                  </a:schemeClr>
                </a:solidFill>
              </a:rPr>
              <a:t> Used: </a:t>
            </a:r>
          </a:p>
          <a:p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  <a:p>
            <a:pPr>
              <a:spcBef>
                <a:spcPct val="0"/>
              </a:spcBef>
            </a:pPr>
            <a:r>
              <a:rPr lang="en-US" b="1" dirty="0">
                <a:solidFill>
                  <a:schemeClr val="accent1">
                    <a:lumMod val="49000"/>
                  </a:schemeClr>
                </a:solidFill>
              </a:rPr>
              <a:t>- </a:t>
            </a:r>
            <a:r>
              <a:rPr lang="en-US" b="1" dirty="0" err="1">
                <a:solidFill>
                  <a:schemeClr val="accent1">
                    <a:lumMod val="49000"/>
                  </a:schemeClr>
                </a:solidFill>
              </a:rPr>
              <a:t>LazyColumn</a:t>
            </a:r>
            <a:r>
              <a:rPr lang="en-US" b="1" dirty="0">
                <a:solidFill>
                  <a:schemeClr val="accent1">
                    <a:lumMod val="49000"/>
                  </a:schemeClr>
                </a:solidFill>
              </a:rPr>
              <a:t>()</a:t>
            </a:r>
          </a:p>
          <a:p>
            <a:pPr>
              <a:spcBef>
                <a:spcPct val="0"/>
              </a:spcBef>
            </a:pPr>
            <a:r>
              <a:rPr lang="en-US" b="1" dirty="0">
                <a:solidFill>
                  <a:schemeClr val="accent1">
                    <a:lumMod val="49000"/>
                  </a:schemeClr>
                </a:solidFill>
              </a:rPr>
              <a:t>- </a:t>
            </a:r>
            <a:r>
              <a:rPr lang="en-US" b="1" dirty="0" err="1">
                <a:solidFill>
                  <a:schemeClr val="accent1">
                    <a:lumMod val="49000"/>
                  </a:schemeClr>
                </a:solidFill>
              </a:rPr>
              <a:t>HistoryCard</a:t>
            </a:r>
            <a:r>
              <a:rPr lang="en-US" b="1" dirty="0">
                <a:solidFill>
                  <a:schemeClr val="accent1">
                    <a:lumMod val="49000"/>
                  </a:schemeClr>
                </a:solidFill>
              </a:rPr>
              <a:t>()</a:t>
            </a: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accent1">
                    <a:lumMod val="49000"/>
                  </a:schemeClr>
                </a:solidFill>
              </a:rPr>
              <a:t>- Row</a:t>
            </a:r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accent1">
                    <a:lumMod val="49000"/>
                  </a:schemeClr>
                </a:solidFill>
              </a:rPr>
              <a:t>- Column</a:t>
            </a:r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accent1">
                    <a:lumMod val="49000"/>
                  </a:schemeClr>
                </a:solidFill>
              </a:rPr>
              <a:t>- Button</a:t>
            </a:r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040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E1BB1-C5B6-C34A-6087-48682887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571499"/>
            <a:ext cx="11118274" cy="1154114"/>
          </a:xfrm>
        </p:spPr>
        <p:txBody>
          <a:bodyPr/>
          <a:lstStyle/>
          <a:p>
            <a:pPr algn="l"/>
            <a:r>
              <a:rPr lang="en-US"/>
              <a:t>        Societal Need                   Why We Chose 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8ADA2-B38F-A25B-C324-05E10CE9CD9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24955" y="2144671"/>
            <a:ext cx="5164553" cy="2573168"/>
          </a:xfrm>
        </p:spPr>
        <p:txBody>
          <a:bodyPr>
            <a:normAutofit lnSpcReduction="10000"/>
          </a:bodyPr>
          <a:lstStyle/>
          <a:p>
            <a:pPr>
              <a:buClr>
                <a:srgbClr val="00635E"/>
              </a:buClr>
            </a:pPr>
            <a:r>
              <a:rPr lang="en-US"/>
              <a:t>Minimize Wage Theft (via company)</a:t>
            </a:r>
          </a:p>
          <a:p>
            <a:pPr marL="347345" lvl="1"/>
            <a:r>
              <a:rPr lang="en-US" dirty="0"/>
              <a:t>Ensures that the employee is paid for any </a:t>
            </a:r>
            <a:r>
              <a:rPr lang="en-US"/>
              <a:t>overtime &amp; stops off the clock work.</a:t>
            </a:r>
          </a:p>
          <a:p>
            <a:pPr>
              <a:buClr>
                <a:srgbClr val="00635E"/>
              </a:buClr>
            </a:pPr>
            <a:r>
              <a:rPr lang="en-US"/>
              <a:t>Stops wage fraud (via employee)</a:t>
            </a:r>
          </a:p>
          <a:p>
            <a:pPr marL="347345" lvl="1"/>
            <a:r>
              <a:rPr lang="en-US"/>
              <a:t>Gets rid of guesswork &amp; stops </a:t>
            </a:r>
            <a:r>
              <a:rPr lang="en-US" dirty="0"/>
              <a:t>employees </a:t>
            </a:r>
            <a:r>
              <a:rPr lang="en-US"/>
              <a:t>from punching in before they're at work.</a:t>
            </a:r>
            <a:br>
              <a:rPr lang="en-US" dirty="0"/>
            </a:br>
            <a:endParaRPr lang="en-US" noProof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8BE27A2-DD1B-BE4C-4F0A-6E92168C836D}"/>
              </a:ext>
            </a:extLst>
          </p:cNvPr>
          <p:cNvSpPr txBox="1">
            <a:spLocks/>
          </p:cNvSpPr>
          <p:nvPr/>
        </p:nvSpPr>
        <p:spPr>
          <a:xfrm>
            <a:off x="6483073" y="2144671"/>
            <a:ext cx="5164553" cy="390901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8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lnSpc>
                <a:spcPct val="12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8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lnSpc>
                <a:spcPct val="12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8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lnSpc>
                <a:spcPct val="12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8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635E"/>
              </a:buClr>
              <a:buFont typeface="Calibri"/>
              <a:buChar char="-"/>
            </a:pPr>
            <a:r>
              <a:rPr lang="en-US"/>
              <a:t>Our work schedule is very flexible</a:t>
            </a:r>
          </a:p>
          <a:p>
            <a:pPr marL="285750" indent="-285750">
              <a:buClr>
                <a:srgbClr val="00635E"/>
              </a:buClr>
              <a:buFont typeface="Calibri"/>
              <a:buChar char="-"/>
            </a:pPr>
            <a:r>
              <a:rPr lang="en-US"/>
              <a:t>Everyday can be different</a:t>
            </a:r>
            <a:endParaRPr lang="en-US" dirty="0"/>
          </a:p>
          <a:p>
            <a:pPr>
              <a:buClr>
                <a:srgbClr val="00635E"/>
              </a:buClr>
              <a:buFont typeface="Calibri" panose="020B0502020202020204"/>
              <a:buChar char="-"/>
            </a:pPr>
            <a:r>
              <a:rPr lang="en-US"/>
              <a:t>We submit our own times</a:t>
            </a:r>
          </a:p>
          <a:p>
            <a:pPr>
              <a:buClr>
                <a:srgbClr val="00635E"/>
              </a:buClr>
              <a:buFont typeface="Calibri" panose="020B0502020202020204"/>
              <a:buChar char="-"/>
            </a:pPr>
            <a:r>
              <a:rPr lang="en-US" dirty="0"/>
              <a:t>There have been times when we forget </a:t>
            </a:r>
          </a:p>
          <a:p>
            <a:pPr marL="0" indent="0">
              <a:buClr>
                <a:srgbClr val="00635E"/>
              </a:buClr>
              <a:buNone/>
            </a:pPr>
            <a:r>
              <a:rPr lang="en-US"/>
              <a:t> - Arrival time</a:t>
            </a:r>
            <a:endParaRPr lang="en-US" dirty="0"/>
          </a:p>
          <a:p>
            <a:pPr marL="0" indent="0">
              <a:buNone/>
            </a:pPr>
            <a:r>
              <a:rPr lang="en-US" b="1"/>
              <a:t> </a:t>
            </a:r>
            <a:r>
              <a:rPr lang="en-US"/>
              <a:t>- When we left</a:t>
            </a:r>
            <a:endParaRPr lang="en-US" b="1" dirty="0"/>
          </a:p>
          <a:p>
            <a:pPr marL="347345" lvl="1" indent="-342900">
              <a:buClr>
                <a:srgbClr val="00635E"/>
              </a:buClr>
            </a:pPr>
            <a:r>
              <a:rPr lang="en-US" b="1" dirty="0"/>
              <a:t> - </a:t>
            </a:r>
            <a:r>
              <a:rPr lang="en-US" b="1" dirty="0" err="1"/>
              <a:t>Took </a:t>
            </a:r>
            <a:r>
              <a:rPr lang="en-US" b="1" dirty="0"/>
              <a:t>breaks</a:t>
            </a:r>
          </a:p>
        </p:txBody>
      </p:sp>
    </p:spTree>
    <p:extLst>
      <p:ext uri="{BB962C8B-B14F-4D97-AF65-F5344CB8AC3E}">
        <p14:creationId xmlns:p14="http://schemas.microsoft.com/office/powerpoint/2010/main" val="3119354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1BD55-781E-2363-E82A-E5F54D23A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248" y="832204"/>
            <a:ext cx="5684370" cy="890021"/>
          </a:xfrm>
        </p:spPr>
        <p:txBody>
          <a:bodyPr/>
          <a:lstStyle/>
          <a:p>
            <a:r>
              <a:rPr lang="en-US"/>
              <a:t>Techniques From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75AD-8955-7EBE-108B-F7EBA76E02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96789" y="1806759"/>
            <a:ext cx="5683829" cy="3470318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  <a:p>
            <a:r>
              <a:rPr lang="en-US" sz="3200"/>
              <a:t>MVVM</a:t>
            </a:r>
          </a:p>
          <a:p>
            <a:r>
              <a:rPr lang="en-US" sz="3200"/>
              <a:t>Hoisting</a:t>
            </a:r>
          </a:p>
          <a:p>
            <a:r>
              <a:rPr lang="en-US" sz="3200"/>
              <a:t>Lambdas as parameters </a:t>
            </a:r>
            <a:endParaRPr lang="en-US" sz="32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819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54F928-5808-4F9A-8810-B3FD2A0264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96C45C-DB75-420E-8AF3-E934CE3B84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E6695BEB-4861-4F57-B47B-7156F618DF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400</Words>
  <Application>Microsoft Office PowerPoint</Application>
  <PresentationFormat>Widescreen</PresentationFormat>
  <Paragraphs>118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Quotable</vt:lpstr>
      <vt:lpstr>Timesheet App</vt:lpstr>
      <vt:lpstr>Now Screen</vt:lpstr>
      <vt:lpstr>History Screen</vt:lpstr>
      <vt:lpstr>        Societal Need                   Why We Chose It</vt:lpstr>
      <vt:lpstr>Techniques From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361</cp:revision>
  <dcterms:created xsi:type="dcterms:W3CDTF">2026-08-05T00:25:43Z</dcterms:created>
  <dcterms:modified xsi:type="dcterms:W3CDTF">2026-08-05T17:40:34Z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